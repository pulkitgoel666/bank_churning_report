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Maven Pro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24" Type="http://schemas.openxmlformats.org/officeDocument/2006/relationships/font" Target="fonts/MavenPro-bold.fntdata"/><Relationship Id="rId12" Type="http://schemas.openxmlformats.org/officeDocument/2006/relationships/slide" Target="slides/slide7.xml"/><Relationship Id="rId23" Type="http://schemas.openxmlformats.org/officeDocument/2006/relationships/font" Target="fonts/Maven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9c5a8ad71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9c5a8ad71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9c5a8ad71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9c5a8ad71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9c5a8ad71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d9c5a8ad71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9c5a8ad71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9c5a8ad71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9c5a8ad71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9c5a8ad71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9c5a8ad71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9c5a8ad71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9c5a8ad71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d9c5a8ad71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9c5a8ad71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9c5a8ad71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9c5a8ad71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d9c5a8ad71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9c5a8ad71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d9c5a8ad71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9c5a8ad71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9c5a8ad71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9c5a8ad71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d9c5a8ad71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119275" y="427005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FFFF00"/>
                </a:solidFill>
              </a:rPr>
              <a:t>By </a:t>
            </a:r>
            <a:r>
              <a:rPr b="1" lang="en-GB" sz="4100">
                <a:solidFill>
                  <a:srgbClr val="FFFF00"/>
                </a:solidFill>
              </a:rPr>
              <a:t> </a:t>
            </a:r>
            <a:r>
              <a:rPr b="1" lang="en-GB" sz="4100">
                <a:solidFill>
                  <a:srgbClr val="FFFF00"/>
                </a:solidFill>
              </a:rPr>
              <a:t>Pulkit Goel</a:t>
            </a:r>
            <a:endParaRPr b="1" sz="4100">
              <a:solidFill>
                <a:srgbClr val="FFFF00"/>
              </a:solidFill>
            </a:endParaRPr>
          </a:p>
        </p:txBody>
      </p:sp>
      <p:pic>
        <p:nvPicPr>
          <p:cNvPr id="279" name="Google Shape;279;p13" title="5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275" y="66300"/>
            <a:ext cx="8905452" cy="36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ctrTitle"/>
          </p:nvPr>
        </p:nvSpPr>
        <p:spPr>
          <a:xfrm>
            <a:off x="117425" y="262994"/>
            <a:ext cx="3810300" cy="9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u="sng">
                <a:solidFill>
                  <a:srgbClr val="FF9900"/>
                </a:solidFill>
              </a:rPr>
              <a:t>Introduction</a:t>
            </a:r>
            <a:endParaRPr sz="4000" u="sng">
              <a:solidFill>
                <a:srgbClr val="FF9900"/>
              </a:solidFill>
            </a:endParaRPr>
          </a:p>
        </p:txBody>
      </p:sp>
      <p:sp>
        <p:nvSpPr>
          <p:cNvPr id="285" name="Google Shape;285;p14"/>
          <p:cNvSpPr txBox="1"/>
          <p:nvPr>
            <p:ph idx="1" type="subTitle"/>
          </p:nvPr>
        </p:nvSpPr>
        <p:spPr>
          <a:xfrm>
            <a:off x="280550" y="1195100"/>
            <a:ext cx="7097100" cy="36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Purpose:</a:t>
            </a:r>
            <a:endParaRPr sz="19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                To explore the factors leading to </a:t>
            </a:r>
            <a:endParaRPr sz="19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                 bank account closures using insights</a:t>
            </a:r>
            <a:endParaRPr sz="19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                 from a </a:t>
            </a:r>
            <a:r>
              <a:rPr b="1" i="1" lang="en-GB" sz="1900"/>
              <a:t>Kaggle dataset</a:t>
            </a:r>
            <a:r>
              <a:rPr lang="en-GB" sz="1900"/>
              <a:t>.</a:t>
            </a:r>
            <a:endParaRPr sz="19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 Why It Matters:</a:t>
            </a:r>
            <a:endParaRPr sz="1900"/>
          </a:p>
          <a:p>
            <a:pPr indent="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         Understanding customer behavior helps</a:t>
            </a:r>
            <a:endParaRPr sz="1900"/>
          </a:p>
          <a:p>
            <a:pPr indent="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         improve Retention strategies and optimize services.</a:t>
            </a:r>
            <a:endParaRPr sz="19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Overview:</a:t>
            </a:r>
            <a:endParaRPr sz="19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                 Dataset description, methodology,</a:t>
            </a:r>
            <a:endParaRPr sz="19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                 analysis, and insights.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ctrTitle"/>
          </p:nvPr>
        </p:nvSpPr>
        <p:spPr>
          <a:xfrm>
            <a:off x="221325" y="325350"/>
            <a:ext cx="4350600" cy="120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u="sng">
                <a:solidFill>
                  <a:srgbClr val="FF9900"/>
                </a:solidFill>
              </a:rPr>
              <a:t>Dataset Overview</a:t>
            </a:r>
            <a:endParaRPr sz="4000" u="sng">
              <a:solidFill>
                <a:srgbClr val="FF9900"/>
              </a:solidFill>
            </a:endParaRPr>
          </a:p>
        </p:txBody>
      </p:sp>
      <p:sp>
        <p:nvSpPr>
          <p:cNvPr id="291" name="Google Shape;291;p15"/>
          <p:cNvSpPr txBox="1"/>
          <p:nvPr>
            <p:ph idx="1" type="subTitle"/>
          </p:nvPr>
        </p:nvSpPr>
        <p:spPr>
          <a:xfrm>
            <a:off x="322125" y="1662550"/>
            <a:ext cx="6816300" cy="32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GB" sz="2000"/>
              <a:t>Data Sources: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        Utilized a public dataset from </a:t>
            </a:r>
            <a:r>
              <a:rPr b="1" i="1" lang="en-GB" sz="2000"/>
              <a:t>Kaggle</a:t>
            </a:r>
            <a:r>
              <a:rPr lang="en-GB" sz="2000"/>
              <a:t>.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GB" sz="2000"/>
              <a:t> Key Variables: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        Age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        Account Balance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        Account Status (Closed/Open)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        Country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        Credit Score</a:t>
            </a:r>
            <a:endParaRPr sz="2000"/>
          </a:p>
        </p:txBody>
      </p:sp>
      <p:pic>
        <p:nvPicPr>
          <p:cNvPr id="292" name="Google Shape;292;p15" title="3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7825" y="3792675"/>
            <a:ext cx="2484850" cy="11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ctrTitle"/>
          </p:nvPr>
        </p:nvSpPr>
        <p:spPr>
          <a:xfrm>
            <a:off x="187025" y="249375"/>
            <a:ext cx="43227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u="sng">
                <a:solidFill>
                  <a:srgbClr val="FF9900"/>
                </a:solidFill>
              </a:rPr>
              <a:t>Data Preparation</a:t>
            </a:r>
            <a:endParaRPr sz="4000" u="sng">
              <a:solidFill>
                <a:srgbClr val="FF9900"/>
              </a:solidFill>
            </a:endParaRPr>
          </a:p>
        </p:txBody>
      </p:sp>
      <p:sp>
        <p:nvSpPr>
          <p:cNvPr id="298" name="Google Shape;298;p16"/>
          <p:cNvSpPr txBox="1"/>
          <p:nvPr>
            <p:ph idx="1" type="subTitle"/>
          </p:nvPr>
        </p:nvSpPr>
        <p:spPr>
          <a:xfrm>
            <a:off x="270175" y="1330025"/>
            <a:ext cx="6463200" cy="34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-GB"/>
              <a:t>Cleaning: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       Removed duplicates and handled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missing values.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-GB"/>
              <a:t>Sorting: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       Sorted data based on balance and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salary for easier analysis.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-GB"/>
              <a:t>Enhancements: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       Added necessary rows and columns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for detailed analysis.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16" title="1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025" y="363675"/>
            <a:ext cx="4221300" cy="433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ctrTitle"/>
          </p:nvPr>
        </p:nvSpPr>
        <p:spPr>
          <a:xfrm>
            <a:off x="87575" y="149494"/>
            <a:ext cx="4110300" cy="101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9900"/>
                </a:solidFill>
              </a:rPr>
              <a:t>Data Overview</a:t>
            </a:r>
            <a:endParaRPr sz="4000">
              <a:solidFill>
                <a:srgbClr val="FF9900"/>
              </a:solidFill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4371275" y="149500"/>
            <a:ext cx="4637700" cy="16482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</a:rPr>
              <a:t>Total No. of Accounts</a:t>
            </a:r>
            <a:endParaRPr b="1" sz="2000"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</a:rPr>
              <a:t>10,000</a:t>
            </a:r>
            <a:endParaRPr b="1" sz="2000"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FFFF"/>
                </a:solidFill>
                <a:latin typeface="Nunito"/>
                <a:ea typeface="Nunito"/>
                <a:cs typeface="Nunito"/>
                <a:sym typeface="Nunito"/>
              </a:rPr>
              <a:t>( 15565701 to 15815690 )</a:t>
            </a:r>
            <a:endParaRPr b="1" sz="2000">
              <a:solidFill>
                <a:srgbClr val="00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6" name="Google Shape;306;p17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9475" y="2057400"/>
            <a:ext cx="4637725" cy="294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7" title="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37850"/>
            <a:ext cx="4024675" cy="34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type="ctrTitle"/>
          </p:nvPr>
        </p:nvSpPr>
        <p:spPr>
          <a:xfrm>
            <a:off x="242100" y="242225"/>
            <a:ext cx="8745900" cy="81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9900"/>
                </a:solidFill>
              </a:rPr>
              <a:t>Insight 1 </a:t>
            </a:r>
            <a:r>
              <a:rPr lang="en-GB" sz="4000">
                <a:solidFill>
                  <a:srgbClr val="FF9900"/>
                </a:solidFill>
              </a:rPr>
              <a:t>( Age Group  )</a:t>
            </a:r>
            <a:endParaRPr sz="4000">
              <a:solidFill>
                <a:srgbClr val="FF9900"/>
              </a:solidFill>
            </a:endParaRPr>
          </a:p>
        </p:txBody>
      </p:sp>
      <p:sp>
        <p:nvSpPr>
          <p:cNvPr id="313" name="Google Shape;313;p18"/>
          <p:cNvSpPr txBox="1"/>
          <p:nvPr>
            <p:ph idx="1" type="subTitle"/>
          </p:nvPr>
        </p:nvSpPr>
        <p:spPr>
          <a:xfrm>
            <a:off x="155875" y="1122225"/>
            <a:ext cx="8624400" cy="38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131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60"/>
              <a:buChar char="❏"/>
            </a:pPr>
            <a:r>
              <a:rPr lang="en-GB" sz="1460"/>
              <a:t>Key Observation:</a:t>
            </a:r>
            <a:endParaRPr sz="1460"/>
          </a:p>
          <a:p>
            <a:pPr indent="-294323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5"/>
              <a:buFont typeface="Arial"/>
              <a:buChar char="●"/>
            </a:pPr>
            <a:r>
              <a:rPr lang="en-GB" sz="1460"/>
              <a:t>From the provided pie chart,  </a:t>
            </a:r>
            <a:r>
              <a:rPr b="1" i="1" lang="en-GB" sz="1460" u="sng"/>
              <a:t>78%</a:t>
            </a:r>
            <a:r>
              <a:rPr lang="en-GB" sz="1460"/>
              <a:t> of </a:t>
            </a:r>
            <a:endParaRPr sz="146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60"/>
              <a:t>account holders who closed </a:t>
            </a:r>
            <a:endParaRPr sz="146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60"/>
              <a:t>their accounts belong to the </a:t>
            </a:r>
            <a:endParaRPr sz="146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1460" u="sng"/>
              <a:t>30-60 age group</a:t>
            </a:r>
            <a:r>
              <a:rPr lang="en-GB" sz="1460"/>
              <a:t>.</a:t>
            </a:r>
            <a:endParaRPr sz="146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60"/>
          </a:p>
          <a:p>
            <a:pPr indent="-32131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60"/>
              <a:buChar char="❏"/>
            </a:pPr>
            <a:r>
              <a:rPr lang="en-GB" sz="1460"/>
              <a:t>Implications:</a:t>
            </a:r>
            <a:br>
              <a:rPr lang="en-GB" sz="1460"/>
            </a:br>
            <a:endParaRPr sz="1460"/>
          </a:p>
          <a:p>
            <a:pPr indent="-294323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5"/>
              <a:buFont typeface="Arial"/>
              <a:buChar char="●"/>
            </a:pPr>
            <a:r>
              <a:rPr lang="en-GB" sz="1460"/>
              <a:t>This significant percentage</a:t>
            </a:r>
            <a:endParaRPr sz="146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460"/>
              <a:t> suggests that this demographic </a:t>
            </a:r>
            <a:endParaRPr sz="146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460"/>
              <a:t>might be facing issues or changes in their financial needs or satisfaction with the services offered.</a:t>
            </a:r>
            <a:endParaRPr sz="1460"/>
          </a:p>
          <a:p>
            <a:pPr indent="0" lvl="0" marL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60"/>
          </a:p>
        </p:txBody>
      </p:sp>
      <p:pic>
        <p:nvPicPr>
          <p:cNvPr id="314" name="Google Shape;314;p18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7375" y="1060025"/>
            <a:ext cx="4972251" cy="29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ctrTitle"/>
          </p:nvPr>
        </p:nvSpPr>
        <p:spPr>
          <a:xfrm>
            <a:off x="135075" y="155882"/>
            <a:ext cx="8769900" cy="9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9900"/>
                </a:solidFill>
              </a:rPr>
              <a:t>Insight 2 ( Credit Score )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320" name="Google Shape;320;p19"/>
          <p:cNvSpPr txBox="1"/>
          <p:nvPr>
            <p:ph idx="1" type="subTitle"/>
          </p:nvPr>
        </p:nvSpPr>
        <p:spPr>
          <a:xfrm>
            <a:off x="135075" y="1111975"/>
            <a:ext cx="8645100" cy="39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877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20"/>
              <a:buChar char="❏"/>
            </a:pPr>
            <a:r>
              <a:rPr lang="en-GB" sz="1420"/>
              <a:t>Key Observation:</a:t>
            </a:r>
            <a:endParaRPr sz="1420"/>
          </a:p>
          <a:p>
            <a:pPr indent="-296545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Char char="●"/>
            </a:pPr>
            <a:r>
              <a:rPr lang="en-GB" sz="1420"/>
              <a:t>The doughnut chart illustrates that </a:t>
            </a:r>
            <a:r>
              <a:rPr b="1" i="1" lang="en-GB" sz="1420" u="sng"/>
              <a:t>34%</a:t>
            </a:r>
            <a:r>
              <a:rPr lang="en-GB" sz="1420"/>
              <a:t> of </a:t>
            </a:r>
            <a:endParaRPr sz="142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20"/>
              <a:t>account holders who closed their accounts </a:t>
            </a:r>
            <a:endParaRPr sz="142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20"/>
              <a:t>fall within the </a:t>
            </a:r>
            <a:r>
              <a:rPr b="1" i="1" lang="en-GB" sz="1420" u="sng"/>
              <a:t>fair credit score range</a:t>
            </a:r>
            <a:r>
              <a:rPr lang="en-GB" sz="1420"/>
              <a:t>.</a:t>
            </a:r>
            <a:endParaRPr sz="1420"/>
          </a:p>
          <a:p>
            <a:pPr indent="-31877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20"/>
              <a:buChar char="❏"/>
            </a:pPr>
            <a:r>
              <a:rPr lang="en-GB" sz="1420"/>
              <a:t>Insights:</a:t>
            </a:r>
            <a:br>
              <a:rPr lang="en-GB" sz="1420"/>
            </a:br>
            <a:endParaRPr sz="1420"/>
          </a:p>
          <a:p>
            <a:pPr indent="-296545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Char char="●"/>
            </a:pPr>
            <a:r>
              <a:rPr lang="en-GB" sz="1420"/>
              <a:t>The high percentage of account closures </a:t>
            </a:r>
            <a:endParaRPr sz="142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20"/>
              <a:t>among individuals with fair and low </a:t>
            </a:r>
            <a:endParaRPr sz="142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20"/>
              <a:t>Credit scores may indicate a fear of </a:t>
            </a:r>
            <a:endParaRPr sz="142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20"/>
              <a:t>worsening their credit situation.</a:t>
            </a:r>
            <a:endParaRPr sz="1420"/>
          </a:p>
          <a:p>
            <a:pPr indent="-296545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70"/>
              <a:buFont typeface="Arial"/>
              <a:buChar char="●"/>
            </a:pPr>
            <a:r>
              <a:rPr lang="en-GB" sz="1420"/>
              <a:t>It suggests that these individuals might be concerned about the impact of account </a:t>
            </a:r>
            <a:endParaRPr sz="142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20"/>
              <a:t>closure on their credit profiles.</a:t>
            </a:r>
            <a:endParaRPr sz="1420"/>
          </a:p>
          <a:p>
            <a:pPr indent="0" lvl="0" marL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20"/>
          </a:p>
        </p:txBody>
      </p:sp>
      <p:pic>
        <p:nvPicPr>
          <p:cNvPr id="321" name="Google Shape;321;p19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7525" y="1073125"/>
            <a:ext cx="4887201" cy="299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ctrTitle"/>
          </p:nvPr>
        </p:nvSpPr>
        <p:spPr>
          <a:xfrm>
            <a:off x="114300" y="145457"/>
            <a:ext cx="8666100" cy="8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9900"/>
                </a:solidFill>
              </a:rPr>
              <a:t>Insight 3 ( Geographic Distribution )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327" name="Google Shape;327;p20"/>
          <p:cNvSpPr txBox="1"/>
          <p:nvPr>
            <p:ph idx="1" type="subTitle"/>
          </p:nvPr>
        </p:nvSpPr>
        <p:spPr>
          <a:xfrm>
            <a:off x="62350" y="997450"/>
            <a:ext cx="9019200" cy="40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258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80"/>
              <a:buChar char="❏"/>
            </a:pPr>
            <a:r>
              <a:rPr lang="en-GB" sz="1480"/>
              <a:t>Key Observation:</a:t>
            </a:r>
            <a:br>
              <a:rPr lang="en-GB" sz="1480"/>
            </a:br>
            <a:endParaRPr sz="1480"/>
          </a:p>
          <a:p>
            <a:pPr indent="-305118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5"/>
              <a:buFont typeface="Arial"/>
              <a:buChar char="●"/>
            </a:pPr>
            <a:r>
              <a:rPr lang="en-GB" sz="1480"/>
              <a:t>The chart reveals that nearly </a:t>
            </a:r>
            <a:endParaRPr sz="148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1480" u="sng"/>
              <a:t>50%</a:t>
            </a:r>
            <a:r>
              <a:rPr lang="en-GB" sz="1480"/>
              <a:t> of account holders who </a:t>
            </a:r>
            <a:endParaRPr sz="148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80"/>
              <a:t>closed their accounts are </a:t>
            </a:r>
            <a:endParaRPr sz="148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80"/>
              <a:t>based in </a:t>
            </a:r>
            <a:r>
              <a:rPr b="1" i="1" lang="en-GB" sz="1480" u="sng"/>
              <a:t>France</a:t>
            </a:r>
            <a:r>
              <a:rPr lang="en-GB" sz="1480"/>
              <a:t>.</a:t>
            </a:r>
            <a:endParaRPr sz="1480"/>
          </a:p>
          <a:p>
            <a:pPr indent="-32258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80"/>
              <a:buChar char="❏"/>
            </a:pPr>
            <a:r>
              <a:rPr lang="en-GB" sz="1480"/>
              <a:t>Implications:</a:t>
            </a:r>
            <a:br>
              <a:rPr lang="en-GB" sz="1480"/>
            </a:br>
            <a:endParaRPr sz="1480"/>
          </a:p>
          <a:p>
            <a:pPr indent="-305118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5"/>
              <a:buFont typeface="Arial"/>
              <a:buChar char="●"/>
            </a:pPr>
            <a:r>
              <a:rPr lang="en-GB" sz="1480"/>
              <a:t>This significant concentration</a:t>
            </a:r>
            <a:endParaRPr sz="148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GB" sz="1480"/>
              <a:t> suggests potential issues </a:t>
            </a:r>
            <a:endParaRPr sz="148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GB" sz="1480"/>
              <a:t>related to accessibility, such as </a:t>
            </a:r>
            <a:endParaRPr sz="148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GB" sz="1480"/>
              <a:t>a lack of branches or insufficient services tailored to the needs of customers in that region.</a:t>
            </a:r>
            <a:endParaRPr sz="1480"/>
          </a:p>
          <a:p>
            <a:pPr indent="0" lvl="0" marL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80"/>
          </a:p>
        </p:txBody>
      </p:sp>
      <p:pic>
        <p:nvPicPr>
          <p:cNvPr id="328" name="Google Shape;328;p20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6275" y="1070200"/>
            <a:ext cx="558000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/>
          <p:nvPr>
            <p:ph type="ctrTitle"/>
          </p:nvPr>
        </p:nvSpPr>
        <p:spPr>
          <a:xfrm>
            <a:off x="157025" y="193982"/>
            <a:ext cx="5920500" cy="98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FF9900"/>
                </a:solidFill>
              </a:rPr>
              <a:t>Insight 4 </a:t>
            </a:r>
            <a:endParaRPr sz="4000">
              <a:solidFill>
                <a:srgbClr val="FF9900"/>
              </a:solidFill>
            </a:endParaRPr>
          </a:p>
        </p:txBody>
      </p:sp>
      <p:sp>
        <p:nvSpPr>
          <p:cNvPr id="334" name="Google Shape;334;p21"/>
          <p:cNvSpPr txBox="1"/>
          <p:nvPr>
            <p:ph idx="1" type="subTitle"/>
          </p:nvPr>
        </p:nvSpPr>
        <p:spPr>
          <a:xfrm>
            <a:off x="157025" y="1122450"/>
            <a:ext cx="8765400" cy="3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056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88"/>
              <a:buChar char="❏"/>
            </a:pPr>
            <a:r>
              <a:rPr lang="en-GB" sz="1488"/>
              <a:t>Key Observation:</a:t>
            </a:r>
            <a:br>
              <a:rPr lang="en-GB" sz="1488"/>
            </a:br>
            <a:endParaRPr sz="1488"/>
          </a:p>
          <a:p>
            <a:pPr indent="-293688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5"/>
              <a:buFont typeface="Arial"/>
              <a:buChar char="●"/>
            </a:pPr>
            <a:r>
              <a:rPr lang="en-GB" sz="1488"/>
              <a:t>The chart indicates that </a:t>
            </a:r>
            <a:r>
              <a:rPr b="1" i="1" lang="en-GB" sz="1488" u="sng"/>
              <a:t>54.5%</a:t>
            </a:r>
            <a:r>
              <a:rPr lang="en-GB" sz="1488"/>
              <a:t> </a:t>
            </a:r>
            <a:endParaRPr sz="1488"/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488"/>
              <a:t>of account holders who closed </a:t>
            </a:r>
            <a:endParaRPr sz="1488"/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488"/>
              <a:t>their accounts are </a:t>
            </a:r>
            <a:r>
              <a:rPr b="1" i="1" lang="en-GB" sz="1488" u="sng"/>
              <a:t>male</a:t>
            </a:r>
            <a:r>
              <a:rPr lang="en-GB" sz="1488"/>
              <a:t>.</a:t>
            </a:r>
            <a:endParaRPr sz="1488"/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88"/>
          </a:p>
          <a:p>
            <a:pPr indent="-323056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88"/>
              <a:buChar char="❏"/>
            </a:pPr>
            <a:r>
              <a:rPr lang="en-GB" sz="1488"/>
              <a:t>Implications:</a:t>
            </a:r>
            <a:br>
              <a:rPr lang="en-GB" sz="1488"/>
            </a:br>
            <a:endParaRPr sz="1488"/>
          </a:p>
          <a:p>
            <a:pPr indent="-293688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5"/>
              <a:buFont typeface="Arial"/>
              <a:buChar char="●"/>
            </a:pPr>
            <a:r>
              <a:rPr lang="en-GB" sz="1488"/>
              <a:t>Understanding the motivations </a:t>
            </a:r>
            <a:endParaRPr sz="1488"/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88"/>
              <a:t>behind these closures could be crucial for tailoring targeted retention </a:t>
            </a:r>
            <a:endParaRPr sz="1488"/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488"/>
              <a:t>strategies, such as tailored communication, promotions, or services that resonate more with male customers.</a:t>
            </a:r>
            <a:endParaRPr sz="1488"/>
          </a:p>
          <a:p>
            <a:pPr indent="0" lvl="0" marL="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88"/>
          </a:p>
        </p:txBody>
      </p:sp>
      <p:pic>
        <p:nvPicPr>
          <p:cNvPr id="335" name="Google Shape;335;p21" title="16.png"/>
          <p:cNvPicPr preferRelativeResize="0"/>
          <p:nvPr/>
        </p:nvPicPr>
        <p:blipFill rotWithShape="1">
          <a:blip r:embed="rId3">
            <a:alphaModFix/>
          </a:blip>
          <a:srcRect b="0" l="4355" r="4355" t="0"/>
          <a:stretch/>
        </p:blipFill>
        <p:spPr>
          <a:xfrm>
            <a:off x="3962400" y="951350"/>
            <a:ext cx="5029200" cy="29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 txBox="1"/>
          <p:nvPr>
            <p:ph type="ctrTitle"/>
          </p:nvPr>
        </p:nvSpPr>
        <p:spPr>
          <a:xfrm>
            <a:off x="223625" y="209899"/>
            <a:ext cx="3868200" cy="8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9900"/>
                </a:solidFill>
              </a:rPr>
              <a:t>Final Insight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341" name="Google Shape;341;p22"/>
          <p:cNvSpPr txBox="1"/>
          <p:nvPr>
            <p:ph idx="1" type="subTitle"/>
          </p:nvPr>
        </p:nvSpPr>
        <p:spPr>
          <a:xfrm>
            <a:off x="147775" y="1219200"/>
            <a:ext cx="8728500" cy="3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-GB"/>
              <a:t>Key Observation :</a:t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The given pivot table shows that the most</a:t>
            </a:r>
            <a:endParaRPr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Account holders who closed their </a:t>
            </a:r>
            <a:endParaRPr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Account  belonged to </a:t>
            </a:r>
            <a:r>
              <a:rPr b="1" i="1" lang="en-GB" u="sng"/>
              <a:t>age group of</a:t>
            </a:r>
            <a:endParaRPr b="1" i="1" u="sng"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u="sng"/>
              <a:t>30 -60</a:t>
            </a:r>
            <a:r>
              <a:rPr lang="en-GB"/>
              <a:t> and are based in </a:t>
            </a:r>
            <a:r>
              <a:rPr b="1" i="1" lang="en-GB" u="sng"/>
              <a:t>France</a:t>
            </a:r>
            <a:r>
              <a:rPr lang="en-GB"/>
              <a:t>,</a:t>
            </a:r>
            <a:endParaRPr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is </a:t>
            </a:r>
            <a:r>
              <a:rPr b="1" i="1" lang="en-GB" u="sng"/>
              <a:t>38.03%.</a:t>
            </a:r>
            <a:endParaRPr b="1" i="1" u="sng"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 of which, </a:t>
            </a:r>
            <a:r>
              <a:rPr b="1" i="1" lang="en-GB" u="sng"/>
              <a:t>21.12%</a:t>
            </a:r>
            <a:r>
              <a:rPr lang="en-GB"/>
              <a:t> are </a:t>
            </a:r>
            <a:r>
              <a:rPr b="1" i="1" lang="en-GB" u="sng"/>
              <a:t>males</a:t>
            </a:r>
            <a:r>
              <a:rPr lang="en-GB"/>
              <a:t> </a:t>
            </a:r>
            <a:endParaRPr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 are also are a majority of </a:t>
            </a:r>
            <a:endParaRPr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Account droppers.</a:t>
            </a:r>
            <a:endParaRPr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-GB"/>
              <a:t>Implications:</a:t>
            </a:r>
            <a:endParaRPr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This suggests that the male of locations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,like France, are not F</a:t>
            </a:r>
            <a:r>
              <a:rPr lang="en-GB"/>
              <a:t>inancially strong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and are facing issues like low credit score, leading to closing their Bank Account .</a:t>
            </a:r>
            <a:endParaRPr/>
          </a:p>
        </p:txBody>
      </p:sp>
      <p:pic>
        <p:nvPicPr>
          <p:cNvPr id="342" name="Google Shape;342;p22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625" y="778575"/>
            <a:ext cx="4255499" cy="358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"/>
          <p:cNvSpPr txBox="1"/>
          <p:nvPr>
            <p:ph type="ctrTitle"/>
          </p:nvPr>
        </p:nvSpPr>
        <p:spPr>
          <a:xfrm>
            <a:off x="129300" y="184725"/>
            <a:ext cx="85806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GB" sz="2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Recommendations Based on Insights</a:t>
            </a:r>
            <a:endParaRPr sz="5000">
              <a:solidFill>
                <a:srgbClr val="FF9900"/>
              </a:solidFill>
            </a:endParaRPr>
          </a:p>
        </p:txBody>
      </p:sp>
      <p:sp>
        <p:nvSpPr>
          <p:cNvPr id="348" name="Google Shape;348;p23"/>
          <p:cNvSpPr txBox="1"/>
          <p:nvPr>
            <p:ph idx="1" type="subTitle"/>
          </p:nvPr>
        </p:nvSpPr>
        <p:spPr>
          <a:xfrm>
            <a:off x="129300" y="849750"/>
            <a:ext cx="8866800" cy="41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GB" sz="1440"/>
              <a:t>Given these insights, our recommendations aim to </a:t>
            </a:r>
            <a:endParaRPr sz="1440"/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-GB" sz="1440"/>
              <a:t>address the root causes of account closures and </a:t>
            </a:r>
            <a:endParaRPr sz="1440"/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n-GB" sz="1440"/>
              <a:t>foster long-term customer loyalty:</a:t>
            </a:r>
            <a:endParaRPr sz="1440"/>
          </a:p>
          <a:p>
            <a:pPr indent="-295434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Char char="●"/>
            </a:pPr>
            <a:r>
              <a:rPr lang="en-GB" sz="1440"/>
              <a:t>Targeted Engagement for Male Customers:</a:t>
            </a:r>
            <a:br>
              <a:rPr lang="en-GB" sz="1440"/>
            </a:br>
            <a:endParaRPr sz="1440"/>
          </a:p>
          <a:p>
            <a:pPr indent="-295434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Char char="○"/>
            </a:pPr>
            <a:r>
              <a:rPr lang="en-GB" sz="1440"/>
              <a:t>Develop marketing and communication</a:t>
            </a:r>
            <a:endParaRPr sz="1440"/>
          </a:p>
          <a:p>
            <a:pPr indent="0" lvl="0" marL="9144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40"/>
              <a:t> strategies that specifically address the </a:t>
            </a:r>
            <a:endParaRPr sz="1440"/>
          </a:p>
          <a:p>
            <a:pPr indent="0" lvl="0" marL="9144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40"/>
              <a:t>interests and concerns of male </a:t>
            </a:r>
            <a:endParaRPr sz="1440"/>
          </a:p>
          <a:p>
            <a:pPr indent="0" lvl="0" marL="9144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40"/>
              <a:t>customers based on their needs and preferences.</a:t>
            </a:r>
            <a:endParaRPr sz="1440"/>
          </a:p>
          <a:p>
            <a:pPr indent="-295434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Char char="●"/>
            </a:pPr>
            <a:r>
              <a:rPr lang="en-GB" sz="1440"/>
              <a:t>Geographic Expansion:</a:t>
            </a:r>
            <a:endParaRPr sz="1440"/>
          </a:p>
          <a:p>
            <a:pPr indent="-295434" lvl="1" marL="9144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Char char="○"/>
            </a:pPr>
            <a:r>
              <a:rPr lang="en-GB" sz="1440"/>
              <a:t>Consider expanding branch availability in regions with high closure rates, particularly in France, to improve accessibility and personalized service.</a:t>
            </a:r>
            <a:endParaRPr sz="1440"/>
          </a:p>
          <a:p>
            <a:pPr indent="0" lvl="0" marL="91440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40"/>
          </a:p>
        </p:txBody>
      </p:sp>
      <p:pic>
        <p:nvPicPr>
          <p:cNvPr descr="Customer review satisfaction feedback survey concept. (provided by Getty Images)" id="349" name="Google Shape;3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8875" y="923625"/>
            <a:ext cx="4507223" cy="2541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urope subregions, geoscheme for statistical purposes, political map (provided by Getty Images)" id="350" name="Google Shape;3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8875" y="923625"/>
            <a:ext cx="4507225" cy="254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"/>
          <p:cNvSpPr txBox="1"/>
          <p:nvPr>
            <p:ph idx="1" type="subTitle"/>
          </p:nvPr>
        </p:nvSpPr>
        <p:spPr>
          <a:xfrm>
            <a:off x="184725" y="341750"/>
            <a:ext cx="8709900" cy="46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GB" sz="1580"/>
              <a:t>Educational Programs on Credit Management:</a:t>
            </a:r>
            <a:endParaRPr sz="1580"/>
          </a:p>
          <a:p>
            <a:pPr indent="-2995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●"/>
            </a:pPr>
            <a:r>
              <a:rPr lang="en-GB" sz="1580"/>
              <a:t>Implement initiatives </a:t>
            </a:r>
            <a:endParaRPr sz="158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580"/>
              <a:t>that educate customers </a:t>
            </a:r>
            <a:endParaRPr sz="158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580"/>
              <a:t>about managing their </a:t>
            </a:r>
            <a:endParaRPr sz="158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580"/>
              <a:t>credit and financial health,</a:t>
            </a:r>
            <a:endParaRPr sz="158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580"/>
              <a:t> alleviating fears </a:t>
            </a:r>
            <a:endParaRPr sz="158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580"/>
              <a:t>associated with </a:t>
            </a:r>
            <a:endParaRPr sz="158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GB" sz="1580"/>
              <a:t>account closures.</a:t>
            </a:r>
            <a:endParaRPr sz="15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58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GB" sz="1580"/>
              <a:t>Feedback Mechanisms:</a:t>
            </a:r>
            <a:br>
              <a:rPr lang="en-GB" sz="1580"/>
            </a:br>
            <a:endParaRPr sz="1580"/>
          </a:p>
          <a:p>
            <a:pPr indent="-2995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●"/>
            </a:pPr>
            <a:r>
              <a:rPr lang="en-GB" sz="1580"/>
              <a:t>Establish channels for receiving feedback from customers who close their accounts to continuously refine service offerings and address concerns proactively.</a:t>
            </a:r>
            <a:endParaRPr sz="158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580"/>
          </a:p>
        </p:txBody>
      </p:sp>
      <p:pic>
        <p:nvPicPr>
          <p:cNvPr descr="Customer review satisfaction feedback survey concept. (provided by Getty Images)" id="356" name="Google Shape;3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425" y="729675"/>
            <a:ext cx="5868626" cy="286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"/>
          <p:cNvSpPr txBox="1"/>
          <p:nvPr>
            <p:ph idx="1" type="subTitle"/>
          </p:nvPr>
        </p:nvSpPr>
        <p:spPr>
          <a:xfrm>
            <a:off x="2047000" y="1506650"/>
            <a:ext cx="4738200" cy="7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0">
                <a:solidFill>
                  <a:srgbClr val="FF9900"/>
                </a:solidFill>
              </a:rPr>
              <a:t>Thank You</a:t>
            </a:r>
            <a:endParaRPr b="1" sz="20000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100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100">
              <a:solidFill>
                <a:srgbClr val="FF9900"/>
              </a:solidFill>
            </a:endParaRPr>
          </a:p>
        </p:txBody>
      </p:sp>
      <p:sp>
        <p:nvSpPr>
          <p:cNvPr id="362" name="Google Shape;362;p25"/>
          <p:cNvSpPr txBox="1"/>
          <p:nvPr/>
        </p:nvSpPr>
        <p:spPr>
          <a:xfrm>
            <a:off x="301350" y="3418600"/>
            <a:ext cx="49254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800"/>
              <a:buFont typeface="Nunito"/>
              <a:buChar char="●"/>
            </a:pPr>
            <a:r>
              <a:rPr b="1" lang="en-GB" sz="1800">
                <a:solidFill>
                  <a:srgbClr val="00FF00"/>
                </a:solidFill>
                <a:latin typeface="Nunito"/>
                <a:ea typeface="Nunito"/>
                <a:cs typeface="Nunito"/>
                <a:sym typeface="Nunito"/>
              </a:rPr>
              <a:t>By Pulkit Goel</a:t>
            </a:r>
            <a:endParaRPr b="1" sz="1800">
              <a:solidFill>
                <a:srgbClr val="00FF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800"/>
              <a:buFont typeface="Nunito"/>
              <a:buChar char="●"/>
            </a:pPr>
            <a:r>
              <a:rPr b="1" lang="en-GB" sz="1800">
                <a:solidFill>
                  <a:srgbClr val="00FF00"/>
                </a:solidFill>
                <a:latin typeface="Nunito"/>
                <a:ea typeface="Nunito"/>
                <a:cs typeface="Nunito"/>
                <a:sym typeface="Nunito"/>
              </a:rPr>
              <a:t>LinkedIn - </a:t>
            </a:r>
            <a:r>
              <a:rPr lang="en-GB" sz="1800">
                <a:solidFill>
                  <a:srgbClr val="FFFF00"/>
                </a:solidFill>
                <a:latin typeface="Aptos"/>
                <a:ea typeface="Aptos"/>
                <a:cs typeface="Aptos"/>
                <a:sym typeface="Aptos"/>
              </a:rPr>
              <a:t>linkedin.com/in/pulkit-goel-753925403</a:t>
            </a:r>
            <a:endParaRPr b="1" sz="1800">
              <a:solidFill>
                <a:srgbClr val="FFFF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800"/>
              <a:buFont typeface="Nunito"/>
              <a:buChar char="●"/>
            </a:pPr>
            <a:r>
              <a:rPr b="1" lang="en-GB" sz="1800">
                <a:solidFill>
                  <a:srgbClr val="00FF00"/>
                </a:solidFill>
                <a:latin typeface="Nunito"/>
                <a:ea typeface="Nunito"/>
                <a:cs typeface="Nunito"/>
                <a:sym typeface="Nunito"/>
              </a:rPr>
              <a:t>GitHub - </a:t>
            </a:r>
            <a:r>
              <a:rPr lang="en-GB" sz="1800">
                <a:solidFill>
                  <a:srgbClr val="FFFF00"/>
                </a:solidFill>
                <a:latin typeface="Aptos"/>
                <a:ea typeface="Aptos"/>
                <a:cs typeface="Aptos"/>
                <a:sym typeface="Aptos"/>
              </a:rPr>
              <a:t>github.com/pulkitgoel666</a:t>
            </a:r>
            <a:endParaRPr b="1" sz="1800">
              <a:solidFill>
                <a:srgbClr val="FFFF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